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05840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051C2C"/>
                </a:solidFill>
                <a:latin typeface="Georgia"/>
              </a:defRPr>
            </a:pPr>
            <a:r>
              <a:rPr>
                <a:ea typeface="KaiTi"/>
              </a:rPr>
              <a:t>Fersang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02536"/>
            <a:ext cx="10058400" cy="566928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Colecalciferol — Vitamina D3 1000 UI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6217920"/>
            <a:ext cx="4206240" cy="254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Sommaire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" y="137160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71600"/>
            <a:ext cx="3657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Indicación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417320"/>
            <a:ext cx="5943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731520" y="20116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28600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286000"/>
            <a:ext cx="3657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Mecanismo de acción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331720"/>
            <a:ext cx="5943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731520" y="29260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20040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200400"/>
            <a:ext cx="3657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Posología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3246120"/>
            <a:ext cx="5943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</a:p>
        </p:txBody>
      </p:sp>
      <p:sp>
        <p:nvSpPr>
          <p:cNvPr id="15" name="Rectangle 14"/>
          <p:cNvSpPr/>
          <p:nvPr/>
        </p:nvSpPr>
        <p:spPr>
          <a:xfrm>
            <a:off x="731520" y="38404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11480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114800"/>
            <a:ext cx="3657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Seguridad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4160520"/>
            <a:ext cx="5943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</a:p>
        </p:txBody>
      </p:sp>
      <p:sp>
        <p:nvSpPr>
          <p:cNvPr id="19" name="Rectangle 18"/>
          <p:cNvSpPr/>
          <p:nvPr/>
        </p:nvSpPr>
        <p:spPr>
          <a:xfrm>
            <a:off x="731520" y="47548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520" y="502920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029200"/>
            <a:ext cx="3657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Evidencia clínica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5074920"/>
            <a:ext cx="5943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</a:p>
        </p:txBody>
      </p:sp>
      <p:sp>
        <p:nvSpPr>
          <p:cNvPr id="23" name="Rectangle 22"/>
          <p:cNvSpPr/>
          <p:nvPr/>
        </p:nvSpPr>
        <p:spPr>
          <a:xfrm>
            <a:off x="731520" y="56692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594360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943600"/>
            <a:ext cx="3657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Mensaje clave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5989320"/>
            <a:ext cx="5943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</a:p>
        </p:txBody>
      </p:sp>
      <p:sp>
        <p:nvSpPr>
          <p:cNvPr id="27" name="Rectangle 26"/>
          <p:cNvSpPr/>
          <p:nvPr/>
        </p:nvSpPr>
        <p:spPr>
          <a:xfrm>
            <a:off x="731520" y="65836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2/8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Indicación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" y="137160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371600"/>
            <a:ext cx="44805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Usos terapéuticos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02920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5029200" cy="3657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Carence en vitamina D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Prevención de la osteoporosis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Raquitismo</a:t>
            </a:r>
          </a:p>
        </p:txBody>
      </p:sp>
      <p:sp>
        <p:nvSpPr>
          <p:cNvPr id="8" name="Oval 7"/>
          <p:cNvSpPr/>
          <p:nvPr/>
        </p:nvSpPr>
        <p:spPr>
          <a:xfrm>
            <a:off x="6430975" y="137160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79615" y="1371600"/>
            <a:ext cx="44805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Poblaciones objetivo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30975" y="1828800"/>
            <a:ext cx="502920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0975" y="2011680"/>
            <a:ext cx="5029200" cy="3657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Adultos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Niños mayores de 12 años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Personas mayores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Mujeres embarazadas (bajo supervisión médica)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3/8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Mecanismo de acción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" y="132588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280160"/>
            <a:ext cx="2743200" cy="553212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Cholécalciférol se convierte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280160"/>
            <a:ext cx="7315200" cy="553212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731520" y="2059686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33172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286000"/>
            <a:ext cx="2743200" cy="553212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En 25-OH-D3 en el hígado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286000"/>
            <a:ext cx="7315200" cy="553212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731520" y="3065526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33756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291840"/>
            <a:ext cx="2743200" cy="553212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Luego en 1,25-(OH)2-D3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3291840"/>
            <a:ext cx="7315200" cy="553212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</a:p>
        </p:txBody>
      </p:sp>
      <p:sp>
        <p:nvSpPr>
          <p:cNvPr id="15" name="Rectangle 14"/>
          <p:cNvSpPr/>
          <p:nvPr/>
        </p:nvSpPr>
        <p:spPr>
          <a:xfrm>
            <a:off x="731520" y="4071366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34340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297680"/>
            <a:ext cx="2743200" cy="553212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Regula absorción de calcio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4297680"/>
            <a:ext cx="7315200" cy="553212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</a:p>
        </p:txBody>
      </p:sp>
      <p:sp>
        <p:nvSpPr>
          <p:cNvPr id="19" name="Rectangle 18"/>
          <p:cNvSpPr/>
          <p:nvPr/>
        </p:nvSpPr>
        <p:spPr>
          <a:xfrm>
            <a:off x="731520" y="5077206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520" y="534924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5303520"/>
            <a:ext cx="2743200" cy="553212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Regula absorción de fósforo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5303520"/>
            <a:ext cx="7315200" cy="553212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</a:p>
        </p:txBody>
      </p:sp>
      <p:sp>
        <p:nvSpPr>
          <p:cNvPr id="23" name="Rectangle 22"/>
          <p:cNvSpPr/>
          <p:nvPr/>
        </p:nvSpPr>
        <p:spPr>
          <a:xfrm>
            <a:off x="731520" y="6083046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4/8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Posología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3576218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Población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07738" y="1280160"/>
            <a:ext cx="3576218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Dosis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83956" y="1280160"/>
            <a:ext cx="3576218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Frecuencia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10728655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3576218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Adultos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7738" y="1783080"/>
            <a:ext cx="3576218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1 comprimido/día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83956" y="1783080"/>
            <a:ext cx="3576218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Diaria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5176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651760"/>
            <a:ext cx="3576218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Niños &gt;12 años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07738" y="2651760"/>
            <a:ext cx="3576218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1 comprimido/día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3956" y="2651760"/>
            <a:ext cx="3576218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Diaria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52044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520440"/>
            <a:ext cx="3576218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Personas mayores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07738" y="3520440"/>
            <a:ext cx="3576218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 comprimidos/día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83956" y="3520440"/>
            <a:ext cx="3576218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Diaria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38912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389120"/>
            <a:ext cx="3576218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Mujeres embarazadas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07738" y="4389120"/>
            <a:ext cx="3576218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Consultar a un médico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83956" y="4389120"/>
            <a:ext cx="3576218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-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525780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5/8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Seguridad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Efectos beneficiosos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5029200" cy="635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029200" cy="2286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Prevención de la osteoporosis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Reducción del riesgo de fracturas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30975" y="1371600"/>
            <a:ext cx="50292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Contraindicaciones y efectos adversos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30975" y="1828800"/>
            <a:ext cx="5029200" cy="63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30975" y="2011680"/>
            <a:ext cx="5029200" cy="2286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Hipercalemia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Insuficiencia renal severa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Hipersensibilidad al cholécalciférol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Náuseas (raras)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Hipercalciuria a dosis altas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6/8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Evidencia clínica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" y="123444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188720"/>
            <a:ext cx="630936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Reducción del 23% de fracturas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508760"/>
            <a:ext cx="6309360" cy="685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1280160" y="2240280"/>
            <a:ext cx="61264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33172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286000"/>
            <a:ext cx="630936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En adultos mayores de 60 años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606040"/>
            <a:ext cx="6309360" cy="685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1280160" y="3337560"/>
            <a:ext cx="61264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42900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383280"/>
            <a:ext cx="630936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Metaanálisis 2023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703320"/>
            <a:ext cx="6309360" cy="685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</a:p>
        </p:txBody>
      </p:sp>
      <p:sp>
        <p:nvSpPr>
          <p:cNvPr id="15" name="Rectangle 14"/>
          <p:cNvSpPr/>
          <p:nvPr/>
        </p:nvSpPr>
        <p:spPr>
          <a:xfrm>
            <a:off x="1280160" y="4434840"/>
            <a:ext cx="61264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52628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480560"/>
            <a:ext cx="630936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12.000 participantes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800600"/>
            <a:ext cx="6309360" cy="685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7/8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Mensaje clave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9144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80160"/>
            <a:ext cx="10180015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Fersang reduce el riesgo de fracturas en adultos mayores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56032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560320"/>
            <a:ext cx="32004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Prevención de osteoporosis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560320"/>
            <a:ext cx="68580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731520" y="310896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338328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383280"/>
            <a:ext cx="32004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Reducción de fracturas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383280"/>
            <a:ext cx="68580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</a:p>
        </p:txBody>
      </p:sp>
      <p:sp>
        <p:nvSpPr>
          <p:cNvPr id="13" name="Rectangle 12"/>
          <p:cNvSpPr/>
          <p:nvPr/>
        </p:nvSpPr>
        <p:spPr>
          <a:xfrm>
            <a:off x="731520" y="393192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20" y="420624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206240"/>
            <a:ext cx="32004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Seguro para la mayoría de los adultos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206240"/>
            <a:ext cx="68580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</a:p>
        </p:txBody>
      </p:sp>
      <p:sp>
        <p:nvSpPr>
          <p:cNvPr id="17" name="Rectangle 16"/>
          <p:cNvSpPr/>
          <p:nvPr/>
        </p:nvSpPr>
        <p:spPr>
          <a:xfrm>
            <a:off x="731520" y="47548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8/8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