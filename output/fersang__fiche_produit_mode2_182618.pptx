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51560"/>
            <a:ext cx="10058400" cy="7315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51C2C"/>
                </a:solidFill>
                <a:latin typeface="Georgia"/>
              </a:defRPr>
            </a:pPr>
            <a:r>
              <a:rPr>
                <a:ea typeface="KaiTi"/>
              </a:rPr>
              <a:t>Fersang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02536"/>
            <a:ext cx="10058400" cy="566928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Cholécalciférol — Vitamine D3 1000 UI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6217920"/>
            <a:ext cx="4206240" cy="25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Sommaire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Indication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17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11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286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2860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Mécanisme d'action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3317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29260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2004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004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Posologie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32461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38404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1148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148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Sécurité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41605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19" name="Rectangle 18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50292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0292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Données cliniques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50749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6692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1520" y="5943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943600"/>
            <a:ext cx="3657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Message clé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5989320"/>
            <a:ext cx="59436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66666"/>
                </a:solidFill>
                <a:latin typeface="Arial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731520" y="65836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Indication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Indications approuvées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Carence en vitamine D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Prévention de l'ostéoporose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Rachitisme</a:t>
            </a:r>
          </a:p>
        </p:txBody>
      </p:sp>
      <p:sp>
        <p:nvSpPr>
          <p:cNvPr id="8" name="Oval 7"/>
          <p:cNvSpPr/>
          <p:nvPr/>
        </p:nvSpPr>
        <p:spPr>
          <a:xfrm>
            <a:off x="6430975" y="13716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79615" y="1371600"/>
            <a:ext cx="448056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Profil patient cible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30975" y="2011680"/>
            <a:ext cx="5029200" cy="36576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Adultes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Enfants &gt;12 ans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Personnes âgées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Femmes enceintes (sous surveillance médicale)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Mécanisme d'action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3258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28016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Cholécalciférol est converti dans le foie en 25-OH-D3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28016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731520" y="205968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Puis dans les reins en 1,25-(OH)2-D3 (calcitriol)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28600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731520" y="306552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33756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743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Régule l'absorption du calcium et du phosphore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291840"/>
            <a:ext cx="7315200" cy="553212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731520" y="4071366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Posologie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Population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07738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Dose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83956" y="1280160"/>
            <a:ext cx="3576218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Fréquence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691640"/>
            <a:ext cx="10728655" cy="127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Adultes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7738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comprimé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83956" y="178308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fois par jour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Enfants &gt;12 ans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07738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comprimé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3956" y="265176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fois par jour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52044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Personnes âgées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7738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2 comprimés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83956" y="352044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1 fois par jour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3891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Femmes enceintes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07738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Consulter un médecin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83956" y="4389120"/>
            <a:ext cx="3576218" cy="86868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23" name="Rectangle 22"/>
          <p:cNvSpPr/>
          <p:nvPr/>
        </p:nvSpPr>
        <p:spPr>
          <a:xfrm>
            <a:off x="731520" y="525780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Sécurité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Contre-indications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5029200" cy="635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Hypercalcémie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Insuffisance rénale sévère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Hypersensibilité au cholécalciférol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0975" y="1371600"/>
            <a:ext cx="50292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Effets indésirables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30975" y="1828800"/>
            <a:ext cx="5029200" cy="63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30975" y="2011680"/>
            <a:ext cx="5029200" cy="22860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Nausées (rares)</a:t>
            </a:r>
          </a:p>
          <a:p>
            <a:pPr algn="l">
              <a:lnSpc>
                <a:spcPts val="1890"/>
              </a:lnSpc>
              <a:spcBef>
                <a:spcPts val="100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rPr>
                <a:ea typeface="KaiTi"/>
              </a:rPr>
              <a:t>Hypercalciurie à fortes doses (rares)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Données cliniques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" y="12344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18872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Réduit le risque de fracture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50876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7" name="Rectangle 6"/>
          <p:cNvSpPr/>
          <p:nvPr/>
        </p:nvSpPr>
        <p:spPr>
          <a:xfrm>
            <a:off x="1280160" y="224028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3317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28600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Chez les adultes &gt;60 ans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0604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1280160" y="333756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42900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38328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Méta-analyse 2023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70332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1280160" y="4434840"/>
            <a:ext cx="6126480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480560"/>
            <a:ext cx="630936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12 000 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800600"/>
            <a:ext cx="6309360" cy="68580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"/>
            <a:ext cx="10698480" cy="822960"/>
          </a:xfrm>
          <a:prstGeom prst="rect">
            <a:avLst/>
          </a:prstGeom>
          <a:noFill/>
        </p:spPr>
        <p:txBody>
          <a:bodyPr wrap="square" anchor="b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0000"/>
                </a:solidFill>
                <a:latin typeface="Georgia"/>
              </a:defRPr>
            </a:pPr>
            <a:r>
              <a:rPr>
                <a:ea typeface="KaiTi"/>
              </a:rPr>
              <a:t>Message clé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10698480" cy="63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914400"/>
          </a:xfrm>
          <a:prstGeom prst="rect">
            <a:avLst/>
          </a:prstGeom>
          <a:solidFill>
            <a:srgbClr val="051C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180015" cy="914400"/>
          </a:xfrm>
          <a:prstGeom prst="rect">
            <a:avLst/>
          </a:prstGeom>
          <a:noFill/>
        </p:spPr>
        <p:txBody>
          <a:bodyPr wrap="square" anchor="ctr" lIns="45720" tIns="45720" rIns="45720" bIns="45720"/>
          <a:lstStyle/>
          <a:p>
            <a:pPr algn="l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rPr>
                <a:ea typeface="KaiTi"/>
              </a:rPr>
              <a:t>Fersang réduit le risque de fracture de 23% chez les adultes &gt;60 ans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56032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56032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Prévention de l'ostéoporose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56032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731520" y="310896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338328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38328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Traitement de la carence en vitamine 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38328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3" name="Rectangle 12"/>
          <p:cNvSpPr/>
          <p:nvPr/>
        </p:nvSpPr>
        <p:spPr>
          <a:xfrm>
            <a:off x="731520" y="393192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31520" y="4206240"/>
            <a:ext cx="411480" cy="411480"/>
          </a:xfrm>
          <a:prstGeom prst="ellipse">
            <a:avLst/>
          </a:prstGeom>
          <a:solidFill>
            <a:srgbClr val="051C2C"/>
          </a:solidFill>
          <a:ln>
            <a:noFill/>
          </a:ln>
        </p:spPr>
        <p:txBody>
          <a:bodyPr rtlCol="0" anchor="ctr" lIns="0" tIns="0" rIns="0" bIns="0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rPr>
                <a:ea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206240"/>
            <a:ext cx="32004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1C2C"/>
                </a:solidFill>
                <a:latin typeface="Arial"/>
              </a:defRPr>
            </a:pPr>
            <a:r>
              <a:rPr>
                <a:ea typeface="KaiTi"/>
              </a:rPr>
              <a:t>Régulation du calcium et du phosphore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06240"/>
            <a:ext cx="6858000" cy="36576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l">
              <a:lnSpc>
                <a:spcPts val="189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728655" cy="635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0" y="6492240"/>
            <a:ext cx="914400" cy="274320"/>
          </a:xfrm>
          <a:prstGeom prst="rect">
            <a:avLst/>
          </a:prstGeom>
          <a:noFill/>
        </p:spPr>
        <p:txBody>
          <a:bodyPr wrap="square" anchor="t" lIns="45720" tIns="45720" rIns="45720" bIns="45720"/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66666"/>
                </a:solidFill>
                <a:latin typeface="Arial"/>
              </a:defRPr>
            </a:pPr>
            <a:r>
              <a:rPr>
                <a:ea typeface="KaiTi"/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